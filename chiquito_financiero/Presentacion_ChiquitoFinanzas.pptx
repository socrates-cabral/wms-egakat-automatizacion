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9418320" cy="3657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941832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9659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D6D7E"/>
                </a:solidFill>
              </a:rPr>
              <a:t>DIAGNÓSTICO FINANCIERO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3172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Chiquito Finanzas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1546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5D6D7E"/>
                </a:solidFill>
              </a:rPr>
              <a:t>Taller de Muebles  |  Macul, Santiago, Chile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3749039"/>
            <a:ext cx="3931920" cy="365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886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8B4C"/>
                </a:solidFill>
              </a:rPr>
              <a:t>Estado: OPERANDO — Monitoreo activo recomendado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3434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D6D7E"/>
                </a:solidFill>
              </a:rPr>
              <a:t>Presentado por: Sócrates Cabral  |  Control de Gestión y Mejora Continua  |  Egakat SPA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Resumen Ejecutivo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8686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D6D7E"/>
                </a:solidFill>
              </a:rPr>
              <a:t>El diagnóstico en 60 segundos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</a:rPr>
              <a:t>Chiquito Finanzas | Mar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D6D7E"/>
                </a:solidFill>
              </a:rPr>
              <a:t>Chiquito Finanzas  |  Diagnóstico Financiero  |  Confidencial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303520" cy="5303520"/>
          </a:xfrm>
          <a:prstGeom prst="rect">
            <a:avLst/>
          </a:prstGeom>
          <a:solidFill>
            <a:srgbClr val="161B2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53035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3385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SITUACIÓN ACTUAL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087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Ingresos promedio: $2.147.366/mes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031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Gastos promedio: $2.031.992/mes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Resultado: $115.374/mes (superávit)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918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• Deuda total: $29.645.120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862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• Cuotas mensuales: $918.903 (43% del ingreso)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• Punto de Equilibrio: $4.250.896/mes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749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</a:rPr>
              <a:t>• Ventas actuales = 51% del 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097280"/>
            <a:ext cx="5943600" cy="5303520"/>
          </a:xfrm>
          <a:prstGeom prst="rect">
            <a:avLst/>
          </a:prstGeom>
          <a:solidFill>
            <a:srgbClr val="161B22"/>
          </a:solidFill>
          <a:ln w="12700">
            <a:solidFill>
              <a:srgbClr val="9A7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0" y="1097280"/>
            <a:ext cx="5943600" cy="320040"/>
          </a:xfrm>
          <a:prstGeom prst="rect">
            <a:avLst/>
          </a:prstGeom>
          <a:solidFill>
            <a:srgbClr val="9A7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13385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5 CAUSAS DEL DÉFICIT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508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A7D0A"/>
                </a:solidFill>
              </a:rPr>
              <a:t>1.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Deuda aplastante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185623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D6D7E"/>
                </a:solidFill>
              </a:rPr>
              <a:t>Cuotas = 43% del ingreso promedio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4231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A7D0A"/>
                </a:solidFill>
              </a:rPr>
              <a:t>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423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Alquiler excesivo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7706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D6D7E"/>
                </a:solidFill>
              </a:rPr>
              <a:t>$700K/mes = 38% del ingreso (normal: 10-15%)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3375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A7D0A"/>
                </a:solidFill>
              </a:rPr>
              <a:t>3.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337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Ventas insuficientes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6850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D6D7E"/>
                </a:solidFill>
              </a:rPr>
              <a:t>Vende $2.147.366 vs. necesita $4.250.896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2519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A7D0A"/>
                </a:solidFill>
              </a:rPr>
              <a:t>4.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251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Gastos personales mezclados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5994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D6D7E"/>
                </a:solidFill>
              </a:rPr>
              <a:t>~$80K/mes de gastos privados en la caja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1663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A7D0A"/>
                </a:solidFill>
              </a:rPr>
              <a:t>5.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166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TCs en mora o riesgo de mora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5138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D6D7E"/>
                </a:solidFill>
              </a:rPr>
              <a:t>Genera tasa TMC 2.75%/mes — la más alta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KPIs Financieros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8686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D6D7E"/>
                </a:solidFill>
              </a:rPr>
              <a:t>Datos reales del libro de caja — 5 meses registrados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</a:rPr>
              <a:t>Chiquito Finanzas | Mar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D6D7E"/>
                </a:solidFill>
              </a:rPr>
              <a:t>Chiquito Finanzas  |  Diagnóstico Financiero  |  Confidencial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274320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6128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8B4C"/>
                </a:solidFill>
              </a:rPr>
              <a:t>$2.147.366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64207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D6D7E"/>
                </a:solidFill>
              </a:rPr>
              <a:t>Ingreso prom/mes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79" y="1097280"/>
            <a:ext cx="274320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16128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</a:rPr>
              <a:t>$2.031.992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664207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D6D7E"/>
                </a:solidFill>
              </a:rPr>
              <a:t>Gasto prom/mes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097280"/>
            <a:ext cx="274320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79" y="116128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8B4C"/>
                </a:solidFill>
              </a:rPr>
              <a:t>$115.374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1664207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D6D7E"/>
                </a:solidFill>
              </a:rPr>
              <a:t>Resultado neto prom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5400" y="1097280"/>
            <a:ext cx="274320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9A7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116128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A7D0A"/>
                </a:solidFill>
              </a:rPr>
              <a:t>51%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664207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D6D7E"/>
                </a:solidFill>
              </a:rPr>
              <a:t>% PE alcanzado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286000"/>
            <a:ext cx="274320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35000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</a:rPr>
              <a:t>$29.645.120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85292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D6D7E"/>
                </a:solidFill>
              </a:rPr>
              <a:t>Deuda total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79" y="2286000"/>
            <a:ext cx="274320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9A7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235000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A7D0A"/>
                </a:solidFill>
              </a:rPr>
              <a:t>$918.903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285292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D6D7E"/>
                </a:solidFill>
              </a:rPr>
              <a:t>Cuotas/mes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2286000"/>
            <a:ext cx="274320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9A7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79" y="235000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A7D0A"/>
                </a:solidFill>
              </a:rPr>
              <a:t>43%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85292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D6D7E"/>
                </a:solidFill>
              </a:rPr>
              <a:t>% ingreso en cuotas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15400" y="2286000"/>
            <a:ext cx="274320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235000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6FEB"/>
                </a:solidFill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285292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D6D7E"/>
                </a:solidFill>
              </a:rPr>
              <a:t>Instrumentos activos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429000"/>
            <a:ext cx="11612880" cy="3154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4930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Flujo mensual real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274320" y="3840480"/>
          <a:ext cx="116128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Mes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Ingresos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Gastos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Resultado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Estado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00"/>
                        <a:t>Dic-25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$3.024.913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$2.715.420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$309.493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✅ Superávit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00"/>
                        <a:t>Ene-26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$1.625.820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$1.601.683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$24.137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✅ Superávit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00"/>
                        <a:t>Feb-26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$1.964.928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$1.617.387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$347.541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✅ Superávit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00"/>
                        <a:t>Mar-26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$2.400.000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$2.200.000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$200.000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✅ Superávit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00"/>
                        <a:t>Nov-25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$1.721.170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$2.025.470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$-304.300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❌ Déficit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Estructura de Deuda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8686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D6D7E"/>
                </a:solidFill>
              </a:rPr>
              <a:t>Total: $29.645.120  |  Cuotas: $918.903/mes  |  8 instrumentos activos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</a:rPr>
              <a:t>Chiquito Finanzas | Mar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D6D7E"/>
                </a:solidFill>
              </a:rPr>
              <a:t>Chiquito Finanzas  |  Diagnóstico Financiero  |  Confidencial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1097280"/>
          <a:ext cx="116128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46736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Acreedor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Saldo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Cuota/mes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Tasa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900"/>
                        <a:t>Banco Itau (crédito 36m)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$5.749.547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$154.028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2.8%/mes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Banco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900"/>
                        <a:t>Banco Estado (crédito 36m)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$5.600.000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$174.437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3.1%/mes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Banco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900"/>
                        <a:t>Banco Santander (TC)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$3.760.935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$109.000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2.8%/mes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Tc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900"/>
                        <a:t>CMR Falabella (TC retail)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$1.607.443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$80.000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3.3%/mes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Tc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900"/>
                        <a:t>Líneas crédito (3 bancos)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$2.360.000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$71.660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3.1%/mes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Linea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900"/>
                        <a:t>Crédito automotriz Foton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$9.517.195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$264.366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1.2%/mes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Auto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900"/>
                        <a:t>Seguro camión Foton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$65.412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—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Seguro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900"/>
                        <a:t>Hermana (dólares)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$1.050.000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274320" y="6080760"/>
            <a:ext cx="11612880" cy="685800"/>
          </a:xfrm>
          <a:prstGeom prst="rect">
            <a:avLst/>
          </a:prstGeom>
          <a:solidFill>
            <a:srgbClr val="2D1B1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1264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El 43% del ingreso mensual se destina a pagar deudas. Sin reducir la deuda o aumentar ventas significativamente, el negocio no es viable.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Punto de Equilibrio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8686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D6D7E"/>
                </a:solidFill>
              </a:rPr>
              <a:t>Ventas actuales $2.147.366/mes = 51% del PE ($4.250.896/mes)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</a:rPr>
              <a:t>Chiquito Finanzas | Mar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D6D7E"/>
                </a:solidFill>
              </a:rPr>
              <a:t>Chiquito Finanzas  |  Diagnóstico Financiero  |  Confidencial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11612880" cy="2103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B4C"/>
                </a:solidFill>
              </a:rPr>
              <a:t>VENTAS ACTUALES: $2.147.366/mes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17043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A7D0A"/>
                </a:solidFill>
              </a:rPr>
              <a:t>PUNTO DE EQUILIBRIO: $4.250.896/mes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45920"/>
            <a:ext cx="11247120" cy="50292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645920"/>
            <a:ext cx="5681552" cy="502920"/>
          </a:xfrm>
          <a:prstGeom prst="rect">
            <a:avLst/>
          </a:prstGeom>
          <a:solidFill>
            <a:srgbClr val="9A7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23656" y="1673352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19456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</a:rPr>
              <a:t>Ventas actuales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1945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</a:rPr>
              <a:t>Punto de Equilibrio (100%)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74320" y="3429000"/>
          <a:ext cx="116128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Escenario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Ventas necesarias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Cambios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% PE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Factibilidad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00"/>
                        <a:t>Actual (sin cambios)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$4.250.896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Solo aumentar ventas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51% → 100%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Muy difícil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00"/>
                        <a:t>Renegociar alquiler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$3.582.484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Alquiler $700K → $400K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51% →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Difícil pero posible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00"/>
                        <a:t>Renegociar + subir precio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$3.186.484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Alquiler $400K + precios +15%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51% → 100%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Alcanzable 6-12 m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00"/>
                        <a:t>Inyección + renegociar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$2.962.484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Crédito BCI + alquiler $400K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51% →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Alcanzable 3-6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Plan de Acción Priorizado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8686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D6D7E"/>
                </a:solidFill>
              </a:rPr>
              <a:t>10 acciones en 3 horizontes — Impacto acumulado potencial: +$716.000/mes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</a:rPr>
              <a:t>Chiquito Finanzas | Mar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D6D7E"/>
                </a:solidFill>
              </a:rPr>
              <a:t>Chiquito Finanzas  |  Diagnóstico Financiero  |  Confidencial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11612880" cy="2926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24712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HORIZONTE 1 — URGENTE (0-3 meses)  |  +$716.000/mes potencial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35608"/>
            <a:ext cx="566928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48132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1. Renegociar alquiler taller $700K → $400K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52704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E8B4C"/>
                </a:solidFill>
              </a:rPr>
              <a:t>+$300.000/mes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35608"/>
            <a:ext cx="566928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48132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2. Separar gastos personales de la caja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152704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E8B4C"/>
                </a:solidFill>
              </a:rPr>
              <a:t>+$80.000/mes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093976"/>
            <a:ext cx="566928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9A7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213969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3. Renegociar TCs antes de mora formal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18541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E8B4C"/>
                </a:solidFill>
              </a:rPr>
              <a:t>+$150.000/mes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093976"/>
            <a:ext cx="566928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9A7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13969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4. Subir precios 10-15%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18541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E8B4C"/>
                </a:solidFill>
              </a:rPr>
              <a:t>+$186.000/mes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834640"/>
            <a:ext cx="11612880" cy="274320"/>
          </a:xfrm>
          <a:prstGeom prst="rect">
            <a:avLst/>
          </a:prstGeom>
          <a:solidFill>
            <a:srgbClr val="9A7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85292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HORIZONTE 2 — IMPORTANTE (3-12 meses)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154680"/>
            <a:ext cx="36576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9A7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200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5. Escalar ventas a $3.500.000/mes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3520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D6D7E"/>
                </a:solidFill>
              </a:rPr>
              <a:t>Meta supervivencia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3154680"/>
            <a:ext cx="36576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9A7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51960" y="3200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6. Formalizar empresa (EIRL/SpA)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3520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D6D7E"/>
                </a:solidFill>
              </a:rPr>
              <a:t>Acceso SERCOTEC/FOGAPE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80" y="3154680"/>
            <a:ext cx="36576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9A7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3200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7. Evaluar venta camión Foton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3520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D6D7E"/>
                </a:solidFill>
              </a:rPr>
              <a:t>Libera $329.778/mes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995928"/>
            <a:ext cx="11612880" cy="274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014215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HORIZONTE 3 — LARGO PLAZO (12-36 meses)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315968"/>
            <a:ext cx="36576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43616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8. Liquidar TCs (CMR primero)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79" y="46817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D6D7E"/>
                </a:solidFill>
              </a:rPr>
              <a:t>Libera flujo permanente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4315968"/>
            <a:ext cx="36576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51960" y="43616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9. Colchón liquidez 2 meses (~$3.800.000)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51960" y="46817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D6D7E"/>
                </a:solidFill>
              </a:rPr>
              <a:t>Estabilidad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80" y="4315968"/>
            <a:ext cx="36576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92440" y="43616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10. Vendedor/a a comisión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40" y="46817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D6D7E"/>
                </a:solidFill>
              </a:rPr>
              <a:t>Multiplica ventas sin costo fijo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193792"/>
            <a:ext cx="11612880" cy="804672"/>
          </a:xfrm>
          <a:prstGeom prst="rect">
            <a:avLst/>
          </a:prstGeom>
          <a:solidFill>
            <a:srgbClr val="1B2D1B"/>
          </a:solidFill>
          <a:ln w="127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2578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8B4C"/>
                </a:solidFill>
              </a:rPr>
              <a:t>Si se ejecutan las 4 acciones urgentes: resultado estimado +$610.230/mes  (déficit actual $115.374/mes → superávit potencial +$610.230/mes)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Decisión: ¿Seguir o Cerrar?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8686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D6D7E"/>
                </a:solidFill>
              </a:rPr>
              <a:t>Análisis objetivo de ambos caminos basado en datos reales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</a:rPr>
              <a:t>Chiquito Finanzas | Mar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D6D7E"/>
                </a:solidFill>
              </a:rPr>
              <a:t>Chiquito Finanzas  |  Diagnóstico Financiero  |  Confidencial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394960" cy="5303520"/>
          </a:xfrm>
          <a:prstGeom prst="rect">
            <a:avLst/>
          </a:prstGeom>
          <a:solidFill>
            <a:srgbClr val="161B22"/>
          </a:solidFill>
          <a:ln w="254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5394960" cy="3657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3385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SEGUIR — Fundamentos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54480"/>
            <a:ext cx="256032" cy="25603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54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Margen bruto sólido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84708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D6D7E"/>
                </a:solidFill>
              </a:rPr>
              <a:t>45-55% — el negocio tiene capacidad real de ganancia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395728"/>
            <a:ext cx="256032" cy="25603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39572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Activo productivo real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68833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D6D7E"/>
                </a:solidFill>
              </a:rPr>
              <a:t>Camión + herramientas + know-how acumulado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36976"/>
            <a:ext cx="256032" cy="25603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23697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Demanda demostrada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52958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D6D7E"/>
                </a:solidFill>
              </a:rPr>
              <a:t>Dic-2025 = $3.024.913 — la demanda existe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78224"/>
            <a:ext cx="256032" cy="25603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7822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Acciones de impacto inmediato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37083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D6D7E"/>
                </a:solidFill>
              </a:rPr>
              <a:t>Renegociar alquiler = +$300K/mes sin vender más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919472"/>
            <a:ext cx="256032" cy="25603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1947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Apoyo familiar disponible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12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D6D7E"/>
                </a:solidFill>
              </a:rPr>
              <a:t>Inyección $2.2M sin costo, red activa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1097280"/>
            <a:ext cx="5394960" cy="5303520"/>
          </a:xfrm>
          <a:prstGeom prst="rect">
            <a:avLst/>
          </a:prstGeom>
          <a:solidFill>
            <a:srgbClr val="161B22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0" y="1097280"/>
            <a:ext cx="539496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113385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CERRAR — Cuándo considerarlo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1554480"/>
            <a:ext cx="256032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15544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Ventas no suben en 6 meses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184708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D6D7E"/>
                </a:solidFill>
              </a:rPr>
              <a:t>Si no supera $2.5M/mes para Sep-2026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2395728"/>
            <a:ext cx="256032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23957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Alquiler no se renegocia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68833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D6D7E"/>
                </a:solidFill>
              </a:rPr>
              <a:t>Sin reducirlo, el PE sigue fuera de alcance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3236976"/>
            <a:ext cx="256032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23697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Mora bancaria formal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52958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D6D7E"/>
                </a:solidFill>
              </a:rPr>
              <a:t>Si TCs entran en cobranza, costos se multiplican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4078224"/>
            <a:ext cx="256032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407822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Deuda familiar impagable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437083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D6D7E"/>
                </a:solidFill>
              </a:rPr>
              <a:t>El conflicto familiar es el costo más alto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4919472"/>
            <a:ext cx="256032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49194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Desgaste del operador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2120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D6D7E"/>
                </a:solidFill>
              </a:rPr>
              <a:t>El estrés sostenido afecta la calidad y ventas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715000"/>
            <a:ext cx="11612880" cy="804672"/>
          </a:xfrm>
          <a:prstGeom prst="rect">
            <a:avLst/>
          </a:prstGeom>
          <a:solidFill>
            <a:srgbClr val="0D47A1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779008"/>
            <a:ext cx="11247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VEREDICTO: Viabilidad CONDICIONADA. Seguir tiene sentido SOLO si en 90 días se renegocia el alquiler y se separan finanzas personales. Sin esas dos acciones, el cierre ordenado en 6 meses es la opción más responsable.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