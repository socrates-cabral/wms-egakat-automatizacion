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645920"/>
            <a:ext cx="9418320" cy="3657600"/>
          </a:xfrm>
          <a:prstGeom prst="rect">
            <a:avLst/>
          </a:prstGeom>
          <a:solidFill>
            <a:srgbClr val="161B22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645920"/>
            <a:ext cx="9418320" cy="7315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9202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D6D7E"/>
                </a:solidFill>
              </a:rPr>
              <a:t>DIAGNÓSTICO FINANCIERO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37744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Chiquito Finanzas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461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5D6D7E"/>
                </a:solidFill>
              </a:rPr>
              <a:t>Taller de Muebles  |  Macul, Santiago, Chile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3840480"/>
            <a:ext cx="3931920" cy="365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3977639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392B"/>
                </a:solidFill>
              </a:rPr>
              <a:t>Estado: DÉFICIT OPERATIVO — Requiere acción inmediata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43484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D6D7E"/>
                </a:solidFill>
              </a:rPr>
              <a:t>Presentado por: Sócrates Cabral  |  Control de Gestión y Mejora Continua  |  Egakat SPA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7548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D6D7E"/>
                </a:solidFill>
              </a:rPr>
              <a:t>Marzo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Resumen Ejecutivo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D6D7E"/>
                </a:solidFill>
              </a:rPr>
              <a:t>El diagnóstico en 60 segundos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914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D6D7E"/>
                </a:solidFill>
              </a:rPr>
              <a:t>Chiquito Finanzas | Mar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D6D7E"/>
                </a:solidFill>
              </a:rPr>
              <a:t>Chiquito Finanzas  |  Diagnóstico Financiero  |  Marzo 2026  |  Confidencial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097280"/>
            <a:ext cx="5303520" cy="5303520"/>
          </a:xfrm>
          <a:prstGeom prst="rect">
            <a:avLst/>
          </a:prstGeom>
          <a:solidFill>
            <a:srgbClr val="161B22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97280"/>
            <a:ext cx="5303520" cy="3200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11556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⚠  SITUACIÓN ACTUAL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087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Ventas promedio: $1,842,930/mes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029967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Gastos promedio: $1,948,700/mes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5117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Resultado: -$105,770/mes (déficit)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7238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D6D7E"/>
                </a:solidFill>
              </a:rPr>
              <a:t>• Deuda total: $26,451,837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93591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D6D7E"/>
                </a:solidFill>
              </a:rPr>
              <a:t>• Cuotas mensuales: $918,903 (50% del ingreso)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1148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D6D7E"/>
                </a:solidFill>
              </a:rPr>
              <a:t>• Punto de Equilibrio: $4,250,896/mes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3600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D6D7E"/>
                </a:solidFill>
              </a:rPr>
              <a:t>• Ventas actuales = 43% del 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15721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D6D7E"/>
                </a:solidFill>
              </a:rPr>
              <a:t>• El negocio necesita más que duplicar sus ventas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1097280"/>
            <a:ext cx="5943600" cy="5303520"/>
          </a:xfrm>
          <a:prstGeom prst="rect">
            <a:avLst/>
          </a:prstGeom>
          <a:solidFill>
            <a:srgbClr val="161B22"/>
          </a:solidFill>
          <a:ln w="12700">
            <a:solidFill>
              <a:srgbClr val="9A7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43600" y="1097280"/>
            <a:ext cx="5943600" cy="320040"/>
          </a:xfrm>
          <a:prstGeom prst="rect">
            <a:avLst/>
          </a:prstGeom>
          <a:solidFill>
            <a:srgbClr val="9A7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1115568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🔍  5 CAUSAS DEL DÉFICIT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15087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9A7D0A"/>
                </a:solidFill>
              </a:rPr>
              <a:t>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1508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Deuda aplastante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</a:rPr>
              <a:t>Cuotas = 50% del ingreso promedio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24231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9A7D0A"/>
                </a:solidFill>
              </a:rPr>
              <a:t>2.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423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Alquiler excesivo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743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</a:rPr>
              <a:t>$700K/mes = 38% del ingreso (normal: 10-15%)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33375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9A7D0A"/>
                </a:solidFill>
              </a:rPr>
              <a:t>3.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337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Ventas insuficientes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57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</a:rPr>
              <a:t>Vende $1.8M vs. necesita $3.95M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42519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9A7D0A"/>
                </a:solidFill>
              </a:rPr>
              <a:t>4.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251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Gastos personales mezclados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</a:rPr>
              <a:t>~$80K/mes de gastos privados en la caja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51663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9A7D0A"/>
                </a:solidFill>
              </a:rPr>
              <a:t>5.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5166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TCs en mora o riesgo de mora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5486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</a:rPr>
              <a:t>Genera tasa TMC 2.75%/mes — la más alta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KPIs Financieros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D6D7E"/>
                </a:solidFill>
              </a:rPr>
              <a:t>Indicadores clave del desempeño operativo — Datos reales Nov 2025 a Mar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914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D6D7E"/>
                </a:solidFill>
              </a:rPr>
              <a:t>Chiquito Finanzas | Mar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D6D7E"/>
                </a:solidFill>
              </a:rPr>
              <a:t>Chiquito Finanzas  |  Diagnóstico Financiero  |  Marzo 2026  |  Confidencial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143000"/>
            <a:ext cx="2743200" cy="1051560"/>
          </a:xfrm>
          <a:prstGeom prst="rect">
            <a:avLst/>
          </a:prstGeom>
          <a:solidFill>
            <a:srgbClr val="161B22"/>
          </a:solidFill>
          <a:ln w="19050">
            <a:solidFill>
              <a:srgbClr val="1E8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1615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E8B4C"/>
                </a:solidFill>
              </a:rPr>
              <a:t>$1,842,930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70992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D6D7E"/>
                </a:solidFill>
              </a:rPr>
              <a:t>Ingreso prom/mes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79" y="1143000"/>
            <a:ext cx="2743200" cy="1051560"/>
          </a:xfrm>
          <a:prstGeom prst="rect">
            <a:avLst/>
          </a:prstGeom>
          <a:solidFill>
            <a:srgbClr val="161B22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121615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</a:rPr>
              <a:t>$1,948,700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170992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D6D7E"/>
                </a:solidFill>
              </a:rPr>
              <a:t>Gasto prom/mes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143000"/>
            <a:ext cx="2743200" cy="1051560"/>
          </a:xfrm>
          <a:prstGeom prst="rect">
            <a:avLst/>
          </a:prstGeom>
          <a:solidFill>
            <a:srgbClr val="161B22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79" y="121615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</a:rPr>
              <a:t>-$105,770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170992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D6D7E"/>
                </a:solidFill>
              </a:rPr>
              <a:t>Resultado neto prom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15400" y="1143000"/>
            <a:ext cx="2743200" cy="1051560"/>
          </a:xfrm>
          <a:prstGeom prst="rect">
            <a:avLst/>
          </a:prstGeom>
          <a:solidFill>
            <a:srgbClr val="161B22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121615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</a:rPr>
              <a:t>43%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170992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D6D7E"/>
                </a:solidFill>
              </a:rPr>
              <a:t>% Punto de Equilibrio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377440"/>
            <a:ext cx="2743200" cy="1051560"/>
          </a:xfrm>
          <a:prstGeom prst="rect">
            <a:avLst/>
          </a:prstGeom>
          <a:solidFill>
            <a:srgbClr val="161B22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45059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</a:rPr>
              <a:t>$26,451,837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94436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D6D7E"/>
                </a:solidFill>
              </a:rPr>
              <a:t>Deuda total consolidada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54679" y="2377440"/>
            <a:ext cx="2743200" cy="1051560"/>
          </a:xfrm>
          <a:prstGeom prst="rect">
            <a:avLst/>
          </a:prstGeom>
          <a:solidFill>
            <a:srgbClr val="161B22"/>
          </a:solidFill>
          <a:ln w="19050">
            <a:solidFill>
              <a:srgbClr val="9A7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46120" y="245059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A7D0A"/>
                </a:solidFill>
              </a:rPr>
              <a:t>$918,903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294436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D6D7E"/>
                </a:solidFill>
              </a:rPr>
              <a:t>Cuotas mensuales totales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377440"/>
            <a:ext cx="2743200" cy="1051560"/>
          </a:xfrm>
          <a:prstGeom prst="rect">
            <a:avLst/>
          </a:prstGeom>
          <a:solidFill>
            <a:srgbClr val="161B22"/>
          </a:solidFill>
          <a:ln w="19050">
            <a:solidFill>
              <a:srgbClr val="9A7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9" y="245059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A7D0A"/>
                </a:solidFill>
              </a:rPr>
              <a:t>50%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79" y="294436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D6D7E"/>
                </a:solidFill>
              </a:rPr>
              <a:t>% ingreso destinado a cuotas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15400" y="2377440"/>
            <a:ext cx="2743200" cy="1051560"/>
          </a:xfrm>
          <a:prstGeom prst="rect">
            <a:avLst/>
          </a:prstGeom>
          <a:solidFill>
            <a:srgbClr val="161B22"/>
          </a:solidFill>
          <a:ln w="1905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245059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6FEB"/>
                </a:solidFill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294436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D6D7E"/>
                </a:solidFill>
              </a:rPr>
              <a:t>Instrumentos de deuda activos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611880"/>
            <a:ext cx="11612880" cy="30175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Flujo mensual real (Nov 2025 – Mar 2026)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274320" y="4023360"/>
          <a:ext cx="1161288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Mes</a:t>
                      </a:r>
                    </a:p>
                  </a:txBody>
                  <a:tcPr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Ingresos</a:t>
                      </a:r>
                    </a:p>
                  </a:txBody>
                  <a:tcPr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Gastos</a:t>
                      </a:r>
                    </a:p>
                  </a:txBody>
                  <a:tcPr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Resultado</a:t>
                      </a:r>
                    </a:p>
                  </a:txBody>
                  <a:tcPr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Estado</a:t>
                      </a:r>
                    </a:p>
                  </a:txBody>
                  <a:tcPr>
                    <a:solidFill>
                      <a:srgbClr val="1F6FEB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1000"/>
                        <a:t>Nov-2025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$1,721,170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$2,025,470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-$304,300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❌ Déficit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1000"/>
                        <a:t>Dic-2025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$3,024,913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$2,715,420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+$309,493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✅ Superávit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1000"/>
                        <a:t>Ene-2026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$1,625,820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$1,686,982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-$61,162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❌ Déficit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1000"/>
                        <a:t>Feb-2026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$1,964,928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$1,617,387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+$347,541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✅ Superávit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1000"/>
                        <a:t>Mar-2026*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$2,400,000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$2,200,000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+$200,000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⚠ Estimado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457200" y="649224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D6D7E"/>
                </a:solidFill>
              </a:rPr>
              <a:t>*Mar-2026 estimado con datos parciales al 11-Mar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Estructura de Costos y Deuda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D6D7E"/>
                </a:solidFill>
              </a:rPr>
              <a:t>Dónde va cada peso que entra al negocio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914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D6D7E"/>
                </a:solidFill>
              </a:rPr>
              <a:t>Chiquito Finanzas | Mar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D6D7E"/>
                </a:solidFill>
              </a:rPr>
              <a:t>Chiquito Finanzas  |  Diagnóstico Financiero  |  Marzo 2026  |  Confidencial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097280"/>
            <a:ext cx="5303520" cy="2743200"/>
          </a:xfrm>
          <a:prstGeom prst="rect">
            <a:avLst/>
          </a:prstGeom>
          <a:solidFill>
            <a:srgbClr val="161B22"/>
          </a:solidFill>
          <a:ln w="12700">
            <a:solidFill>
              <a:srgbClr val="9A7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97280"/>
            <a:ext cx="5303520" cy="274320"/>
          </a:xfrm>
          <a:prstGeom prst="rect">
            <a:avLst/>
          </a:prstGeom>
          <a:solidFill>
            <a:srgbClr val="9A7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11556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COSTOS FIJOS MENSUALES  — Total: $1,912,903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444752"/>
            <a:ext cx="109728" cy="25603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44475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Cuotas bancarias (8 deudas)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14447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C0392B"/>
                </a:solidFill>
              </a:rPr>
              <a:t>$918,903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144475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</a:rPr>
              <a:t>48%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883664"/>
            <a:ext cx="109728" cy="256032"/>
          </a:xfrm>
          <a:prstGeom prst="rect">
            <a:avLst/>
          </a:prstGeom>
          <a:solidFill>
            <a:srgbClr val="9A7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88366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Alquiler del taller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188366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9A7D0A"/>
                </a:solidFill>
              </a:rPr>
              <a:t>$700,000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1883664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</a:rPr>
              <a:t>37%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322576"/>
            <a:ext cx="109728" cy="256032"/>
          </a:xfrm>
          <a:prstGeom prst="rect">
            <a:avLst/>
          </a:prstGeom>
          <a:solidFill>
            <a:srgbClr val="5D6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32257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Gasolina camión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322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5D6D7E"/>
                </a:solidFill>
              </a:rPr>
              <a:t>$100,000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2322576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</a:rPr>
              <a:t>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761488"/>
            <a:ext cx="109728" cy="256032"/>
          </a:xfrm>
          <a:prstGeom prst="rect">
            <a:avLst/>
          </a:prstGeom>
          <a:solidFill>
            <a:srgbClr val="5D6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6148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Luz, agua y servicios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276148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5D6D7E"/>
                </a:solidFill>
              </a:rPr>
              <a:t>$55,000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276148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</a:rPr>
              <a:t>3%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200400"/>
            <a:ext cx="109728" cy="256032"/>
          </a:xfrm>
          <a:prstGeom prst="rect">
            <a:avLst/>
          </a:prstGeom>
          <a:solidFill>
            <a:srgbClr val="5D6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20040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Otros (teléfono, internet...)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320040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5D6D7E"/>
                </a:solidFill>
              </a:rPr>
              <a:t>$139,000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3200400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</a:rPr>
              <a:t>7%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1097280"/>
            <a:ext cx="5943600" cy="2743200"/>
          </a:xfrm>
          <a:prstGeom prst="rect">
            <a:avLst/>
          </a:prstGeom>
          <a:solidFill>
            <a:srgbClr val="161B22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43600" y="1097280"/>
            <a:ext cx="594360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0" y="1115568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DEUDA POR INSTRUMENTO  — Total: $26,451,837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144475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Crédito Foton (camión)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14447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FFFF"/>
                </a:solidFill>
              </a:rPr>
              <a:t>$9,517,195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14447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7D0A"/>
                </a:solidFill>
              </a:rPr>
              <a:t>$264,366/mes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14447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7D0A"/>
                </a:solidFill>
              </a:rPr>
              <a:t>1.2%/mes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5040" y="1746504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Banco Itaú (crédito)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0" y="174650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FFFF"/>
                </a:solidFill>
              </a:rPr>
              <a:t>$5,749,547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174650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7D0A"/>
                </a:solidFill>
              </a:rPr>
              <a:t>$154,028/mes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17465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0392B"/>
                </a:solidFill>
              </a:rPr>
              <a:t>2.8%/mes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40" y="204825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Banco Estado (crédito)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204825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FFFF"/>
                </a:solidFill>
              </a:rPr>
              <a:t>$5,600,000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84080" y="204825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7D0A"/>
                </a:solidFill>
              </a:rPr>
              <a:t>$174,437/mes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204825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0392B"/>
                </a:solidFill>
              </a:rPr>
              <a:t>3.1%/mes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35040" y="235000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Banco Santander (TC)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5360" y="235000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FFFF"/>
                </a:solidFill>
              </a:rPr>
              <a:t>$3,760,935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84080" y="235000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7D0A"/>
                </a:solidFill>
              </a:rPr>
              <a:t>$109,000/mes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0" y="235000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0392B"/>
                </a:solidFill>
              </a:rPr>
              <a:t>2.8%/mes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0" y="2651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Líneas de crédito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95360" y="26517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FFFF"/>
                </a:solidFill>
              </a:rPr>
              <a:t>$2,360,000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84080" y="26517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7D0A"/>
                </a:solidFill>
              </a:rPr>
              <a:t>$71,660/mes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265176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0392B"/>
                </a:solidFill>
              </a:rPr>
              <a:t>3.1%/mes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35040" y="29535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CMR Falabella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95360" y="29535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FFFF"/>
                </a:solidFill>
              </a:rPr>
              <a:t>$1,607,443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84080" y="29535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7D0A"/>
                </a:solidFill>
              </a:rPr>
              <a:t>$80,000/mes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72800" y="295351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0392B"/>
                </a:solidFill>
              </a:rPr>
              <a:t>3.3%/mes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35040" y="3255264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Hermana (dólares)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95360" y="325526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FFFF"/>
                </a:solidFill>
              </a:rPr>
              <a:t>$1,050,000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325526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7D0A"/>
                </a:solidFill>
              </a:rPr>
              <a:t>$0/mes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72800" y="325526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8B4C"/>
                </a:solidFill>
              </a:rPr>
              <a:t>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35040" y="3557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Seguro Foton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95360" y="35570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FFFF"/>
                </a:solidFill>
              </a:rP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784080" y="35570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7D0A"/>
                </a:solidFill>
              </a:rPr>
              <a:t>$65,412/mes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972800" y="355701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8B4C"/>
                </a:solidFill>
              </a:rPr>
              <a:t>fijo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3977639"/>
            <a:ext cx="11612880" cy="777240"/>
          </a:xfrm>
          <a:prstGeom prst="rect">
            <a:avLst/>
          </a:prstGeom>
          <a:solidFill>
            <a:srgbClr val="2D1B1B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4023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</a:rPr>
              <a:t>⚠  El 48% de los costos fijos son cuotas bancarias. Sin reducir la deuda o aumentar drásticamente las ventas, el negocio no puede ser viable. Las tarjetas de crédito (tasa 2.8-3.3%/mes) son el foco de acción prioritario.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Punto de Equilibrio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D6D7E"/>
                </a:solidFill>
              </a:rPr>
              <a:t>¿Cuánto necesita vender el negocio para sobrevivir?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914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D6D7E"/>
                </a:solidFill>
              </a:rPr>
              <a:t>Chiquito Finanzas | Mar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D6D7E"/>
                </a:solidFill>
              </a:rPr>
              <a:t>Chiquito Finanzas  |  Diagnóstico Financiero  |  Marzo 2026  |  Confidencial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143000"/>
            <a:ext cx="11612880" cy="22860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8B4C"/>
                </a:solidFill>
              </a:rPr>
              <a:t>VENTAS ACTUALES: $1,842,930/mes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1887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7D0A"/>
                </a:solidFill>
              </a:rPr>
              <a:t>PUNTO DE EQUILIBRIO: $4,250,896/mes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91640"/>
            <a:ext cx="11247120" cy="548640"/>
          </a:xfrm>
          <a:prstGeom prst="rect">
            <a:avLst/>
          </a:prstGeom>
          <a:solidFill>
            <a:srgbClr val="212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691640"/>
            <a:ext cx="4837176" cy="548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00" y="171907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D6D7E"/>
                </a:solidFill>
              </a:rPr>
              <a:t>Ventas actuales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D6D7E"/>
                </a:solidFill>
              </a:rPr>
              <a:t>Punto de Equilibrio (100%)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247120" y="1600200"/>
            <a:ext cx="27432" cy="731520"/>
          </a:xfrm>
          <a:prstGeom prst="rect">
            <a:avLst/>
          </a:prstGeom>
          <a:solidFill>
            <a:srgbClr val="9A7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0" y="15544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7D0A"/>
                </a:solidFill>
              </a:rPr>
              <a:t>▼ PE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30183" y="1600200"/>
            <a:ext cx="27432" cy="7315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1554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E8B4C"/>
                </a:solidFill>
              </a:rPr>
              <a:t>Meta mínima 70%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520440"/>
            <a:ext cx="11612880" cy="30632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5661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¿Qué necesita cambiar para alcanzar el equilibrio?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274320" y="3931920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42672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Escenario</a:t>
                      </a:r>
                    </a:p>
                  </a:txBody>
                  <a:tcPr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Ventas necesarias</a:t>
                      </a:r>
                    </a:p>
                  </a:txBody>
                  <a:tcPr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Cambios requeridos</a:t>
                      </a:r>
                    </a:p>
                  </a:txBody>
                  <a:tcPr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% PE</a:t>
                      </a:r>
                    </a:p>
                  </a:txBody>
                  <a:tcPr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Factibilidad</a:t>
                      </a:r>
                    </a:p>
                  </a:txBody>
                  <a:tcPr>
                    <a:solidFill>
                      <a:srgbClr val="1F6FE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/>
                        <a:t>Actual (sin cambios)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$4,250,896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Ninguno — solo subir ventas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43% → 100%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Muy difícil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/>
                        <a:t>Renegociar alquiler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$3,582,484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Alquiler $700K → $400K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43% → 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Difícil pero posible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/>
                        <a:t>Renegociar + subir precio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$3,186,484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Alquiler $400K + precios +15%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43% → 100%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Alcanzable en 6-12 meses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/>
                        <a:t>Inyección + renegociar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$2,962,484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Crédito BCI + alquiler $400K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43% → 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Alcanzable en 3-6 meses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/>
                        <a:t>Escenario óptimo 2027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$2,500,000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Todas las acciones ejecutadas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74%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Meta realista a 18 meses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Simulación de Escenarios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D6D7E"/>
                </a:solidFill>
              </a:rPr>
              <a:t>¿Qué pasa si...? — Cuatro caminos posibles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914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D6D7E"/>
                </a:solidFill>
              </a:rPr>
              <a:t>Chiquito Finanzas | Mar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D6D7E"/>
                </a:solidFill>
              </a:rPr>
              <a:t>Chiquito Finanzas  |  Diagnóstico Financiero  |  Marzo 2026  |  Confidencial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143000"/>
            <a:ext cx="5669280" cy="2423160"/>
          </a:xfrm>
          <a:prstGeom prst="rect">
            <a:avLst/>
          </a:prstGeom>
          <a:solidFill>
            <a:srgbClr val="161B22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143000"/>
            <a:ext cx="5669280" cy="3474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887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📍 ACTUAL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00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D6D7E"/>
                </a:solidFill>
              </a:rPr>
              <a:t>Ventas/mes: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16002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$1,860,000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9476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D6D7E"/>
                </a:solidFill>
              </a:rPr>
              <a:t>Alquiler: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19476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$700,000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29514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D6D7E"/>
                </a:solidFill>
              </a:rPr>
              <a:t>Cuotas TC: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229514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$363,097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97480"/>
            <a:ext cx="5303520" cy="347472"/>
          </a:xfrm>
          <a:prstGeom prst="rect">
            <a:avLst/>
          </a:prstGeom>
          <a:solidFill>
            <a:srgbClr val="212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7157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392B"/>
                </a:solidFill>
              </a:rPr>
              <a:t>Resultado: -$540,000/mes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108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Insostenible — pérdidas continuas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143000"/>
            <a:ext cx="5669280" cy="2423160"/>
          </a:xfrm>
          <a:prstGeom prst="rect">
            <a:avLst/>
          </a:prstGeom>
          <a:solidFill>
            <a:srgbClr val="161B22"/>
          </a:solidFill>
          <a:ln w="19050">
            <a:solidFill>
              <a:srgbClr val="1E8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143000"/>
            <a:ext cx="5669280" cy="347472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1887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🌱 OPTIMISTA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600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D6D7E"/>
                </a:solidFill>
              </a:rPr>
              <a:t>Ventas/mes: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16002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$3,000,000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19476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D6D7E"/>
                </a:solidFill>
              </a:rPr>
              <a:t>Alquiler: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19476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$700,000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29514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D6D7E"/>
                </a:solidFill>
              </a:rPr>
              <a:t>Cuotas TC: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229514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$363,097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46520" y="2697480"/>
            <a:ext cx="5303520" cy="347472"/>
          </a:xfrm>
          <a:prstGeom prst="rect">
            <a:avLst/>
          </a:prstGeom>
          <a:solidFill>
            <a:srgbClr val="212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59" y="27157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8B4C"/>
                </a:solidFill>
              </a:rPr>
              <a:t>Resultado: +$76,500/mes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3108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Viable solo si ventas triplican — difícil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794760"/>
            <a:ext cx="5669280" cy="2423160"/>
          </a:xfrm>
          <a:prstGeom prst="rect">
            <a:avLst/>
          </a:prstGeom>
          <a:solidFill>
            <a:srgbClr val="161B22"/>
          </a:solidFill>
          <a:ln w="19050">
            <a:solidFill>
              <a:srgbClr val="1E8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3794760"/>
            <a:ext cx="5669280" cy="347472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79" y="38404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🤝 RENEGOCIADO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D6D7E"/>
                </a:solidFill>
              </a:rPr>
              <a:t>Ventas/mes: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60320" y="42519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$2,200,000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45994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D6D7E"/>
                </a:solidFill>
              </a:rPr>
              <a:t>Alquiler: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60320" y="45994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$400,000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4690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D6D7E"/>
                </a:solidFill>
              </a:rPr>
              <a:t>Cuotas TC: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60320" y="494690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$200,000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349240"/>
            <a:ext cx="5303520" cy="347472"/>
          </a:xfrm>
          <a:prstGeom prst="rect">
            <a:avLst/>
          </a:prstGeom>
          <a:solidFill>
            <a:srgbClr val="212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6752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8B4C"/>
                </a:solidFill>
              </a:rPr>
              <a:t>Resultado: +$149,000/mes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760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Alcanzable con negociaciones urgentes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3794760"/>
            <a:ext cx="5669280" cy="2423160"/>
          </a:xfrm>
          <a:prstGeom prst="rect">
            <a:avLst/>
          </a:prstGeom>
          <a:solidFill>
            <a:srgbClr val="161B22"/>
          </a:solidFill>
          <a:ln w="19050">
            <a:solidFill>
              <a:srgbClr val="9A7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3794760"/>
            <a:ext cx="5669280" cy="347472"/>
          </a:xfrm>
          <a:prstGeom prst="rect">
            <a:avLst/>
          </a:prstGeom>
          <a:solidFill>
            <a:srgbClr val="9A7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38404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⚖ EQUILIBRIO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4652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D6D7E"/>
                </a:solidFill>
              </a:rPr>
              <a:t>Ventas/mes: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9640" y="42519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$3,950,000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45994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D6D7E"/>
                </a:solidFill>
              </a:rPr>
              <a:t>Alquiler: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49640" y="45994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$700,000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46520" y="494690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D6D7E"/>
                </a:solidFill>
              </a:rPr>
              <a:t>Cuotas TC: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49640" y="494690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$363,097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46520" y="5349240"/>
            <a:ext cx="5303520" cy="347472"/>
          </a:xfrm>
          <a:prstGeom prst="rect">
            <a:avLst/>
          </a:prstGeom>
          <a:solidFill>
            <a:srgbClr val="212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37959" y="536752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9A7D0A"/>
                </a:solidFill>
              </a:rPr>
              <a:t>Resultado: $0/mes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46520" y="5760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Requiere doblar ventas — meta 2027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Opción: Inyección de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D6D7E"/>
                </a:solidFill>
              </a:rPr>
              <a:t>Crédito BCI $10M + Aporte familiar $2.2M para refinanciar deuda costosa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914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D6D7E"/>
                </a:solidFill>
              </a:rPr>
              <a:t>Chiquito Finanzas | Mar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D6D7E"/>
                </a:solidFill>
              </a:rPr>
              <a:t>Chiquito Finanzas  |  Diagnóstico Financiero  |  Marzo 2026  |  Confidencial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097280"/>
            <a:ext cx="5303520" cy="5303520"/>
          </a:xfrm>
          <a:prstGeom prst="rect">
            <a:avLst/>
          </a:prstGeom>
          <a:solidFill>
            <a:srgbClr val="161B22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97280"/>
            <a:ext cx="5303520" cy="3200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11556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💉  LA PROPUESTA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508760"/>
            <a:ext cx="5120640" cy="7772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554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Crédito BCI (Opción B)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52704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F6FEB"/>
                </a:solidFill>
              </a:rPr>
              <a:t>$10,000,000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96596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24 cuotas — $505,611/mes — tasa 1.51%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377439"/>
            <a:ext cx="5120640" cy="7772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42315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Aporte familiar hermano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395727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F6FEB"/>
                </a:solidFill>
              </a:rPr>
              <a:t>$2,200,000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834639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Sin interés, sin cuota mensual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246120"/>
            <a:ext cx="5120640" cy="7772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29183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TOTAL CAPITAL DISPONIBLE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26440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F6FEB"/>
                </a:solidFill>
              </a:rPr>
              <a:t>$12,200,000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70332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Para pagar las deudas más caras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2062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Plan de asignación (de mayor a menor tasa):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5262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8B4C"/>
                </a:solidFill>
              </a:rPr>
              <a:t>✅ CMR Falabella ($1.6M al 3.3%) → libera $80,000/mes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91032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8B4C"/>
                </a:solidFill>
              </a:rPr>
              <a:t>✅ Líneas de crédito ($2.3M al 3.1%) → libera $71,660/mes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2943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8B4C"/>
                </a:solidFill>
              </a:rPr>
              <a:t>✅ Banco Estado ($5.6M al 3.1%) → libera $174,437/mes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67842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A7D0A"/>
                </a:solidFill>
              </a:rPr>
              <a:t>⚡ Santander — pago parcial con el remanente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0" y="1097280"/>
            <a:ext cx="5943600" cy="5303520"/>
          </a:xfrm>
          <a:prstGeom prst="rect">
            <a:avLst/>
          </a:prstGeom>
          <a:solidFill>
            <a:srgbClr val="161B22"/>
          </a:solidFill>
          <a:ln w="12700">
            <a:solidFill>
              <a:srgbClr val="1E8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3600" y="1097280"/>
            <a:ext cx="5943600" cy="32004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1115568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📊  IMPACTO FINANCIERO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1508760"/>
            <a:ext cx="5760720" cy="594360"/>
          </a:xfrm>
          <a:prstGeom prst="rect">
            <a:avLst/>
          </a:prstGeom>
          <a:solidFill>
            <a:srgbClr val="212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2200" y="15544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D6D7E"/>
                </a:solidFill>
              </a:rPr>
              <a:t>Cuotas liberadas/mes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153619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E8B4C"/>
                </a:solidFill>
              </a:rPr>
              <a:t>+$326,097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2194560"/>
            <a:ext cx="5760720" cy="594360"/>
          </a:xfrm>
          <a:prstGeom prst="rect">
            <a:avLst/>
          </a:prstGeom>
          <a:solidFill>
            <a:srgbClr val="212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72200" y="224027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D6D7E"/>
                </a:solidFill>
              </a:rPr>
              <a:t>Nueva cuota BCI/mes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2221991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C0392B"/>
                </a:solidFill>
              </a:rPr>
              <a:t>-$505,611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5040" y="2880360"/>
            <a:ext cx="5760720" cy="594360"/>
          </a:xfrm>
          <a:prstGeom prst="rect">
            <a:avLst/>
          </a:prstGeom>
          <a:solidFill>
            <a:srgbClr val="212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72200" y="292607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D6D7E"/>
                </a:solidFill>
              </a:rPr>
              <a:t>Impacto neto cuotas (corto plazo)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2907791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9A7D0A"/>
                </a:solidFill>
              </a:rPr>
              <a:t>-$179,514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35040" y="3566160"/>
            <a:ext cx="5760720" cy="594360"/>
          </a:xfrm>
          <a:prstGeom prst="rect">
            <a:avLst/>
          </a:prstGeom>
          <a:solidFill>
            <a:srgbClr val="212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72200" y="361187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D6D7E"/>
                </a:solidFill>
              </a:rPr>
              <a:t>Ahorro en intereses/mes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3593591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E8B4C"/>
                </a:solidFill>
              </a:rPr>
              <a:t>+$280,268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4251960"/>
            <a:ext cx="5760720" cy="594360"/>
          </a:xfrm>
          <a:prstGeom prst="rect">
            <a:avLst/>
          </a:prstGeom>
          <a:solidFill>
            <a:srgbClr val="212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72200" y="42976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D6D7E"/>
                </a:solidFill>
              </a:rPr>
              <a:t>Ahorro total (24 meses)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427939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E8B4C"/>
                </a:solidFill>
              </a:rPr>
              <a:t>+$3,363,000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4937760"/>
            <a:ext cx="5760720" cy="594360"/>
          </a:xfrm>
          <a:prstGeom prst="rect">
            <a:avLst/>
          </a:prstGeom>
          <a:solidFill>
            <a:srgbClr val="212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72200" y="49834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D6D7E"/>
                </a:solidFill>
              </a:rPr>
              <a:t>Arbitraje de tasa logrado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496519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F6FEB"/>
                </a:solidFill>
              </a:rPr>
              <a:t>1.70%/mes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35040" y="5669280"/>
            <a:ext cx="5760720" cy="640080"/>
          </a:xfrm>
          <a:prstGeom prst="rect">
            <a:avLst/>
          </a:prstGeom>
          <a:solidFill>
            <a:srgbClr val="1B2D1B"/>
          </a:solidFill>
          <a:ln w="12700">
            <a:solidFill>
              <a:srgbClr val="1E8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72200" y="5715000"/>
            <a:ext cx="5577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8B4C"/>
                </a:solidFill>
              </a:rPr>
              <a:t>⚠  Solo ejecutar si se renegocia el alquiler ANTES y se acuerda plan de devolución familiar por escrito.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Plan de Acción Priorizado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D6D7E"/>
                </a:solidFill>
              </a:rPr>
              <a:t>10 acciones en 3 horizontes de tiempo — Impacto acumulado: +$716,000/mes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914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D6D7E"/>
                </a:solidFill>
              </a:rPr>
              <a:t>Chiquito Finanzas | Mar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D6D7E"/>
                </a:solidFill>
              </a:rPr>
              <a:t>Chiquito Finanzas  |  Diagnóstico Financiero  |  Marzo 2026  |  Confidencial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143000"/>
            <a:ext cx="11612880" cy="3200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HORIZONTE 1 — URGENTE  (0 a 3 meses)  |  Impacto potencial: +$716,000/mes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508760"/>
            <a:ext cx="5669280" cy="594360"/>
          </a:xfrm>
          <a:prstGeom prst="rect">
            <a:avLst/>
          </a:prstGeom>
          <a:solidFill>
            <a:srgbClr val="161B22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1554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1. Renegociar alquiler del taller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2880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$700,000 → $400,000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600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E8B4C"/>
                </a:solidFill>
              </a:rPr>
              <a:t>+$300,000/mes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508760"/>
            <a:ext cx="5669280" cy="594360"/>
          </a:xfrm>
          <a:prstGeom prst="rect">
            <a:avLst/>
          </a:prstGeom>
          <a:solidFill>
            <a:srgbClr val="161B22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54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2. Separar gastos personales de la caja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82880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~$80K/mes mezclados actualmente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1600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E8B4C"/>
                </a:solidFill>
              </a:rPr>
              <a:t>+$80,000/mes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167128"/>
            <a:ext cx="5669280" cy="594360"/>
          </a:xfrm>
          <a:prstGeom prst="rect">
            <a:avLst/>
          </a:prstGeom>
          <a:solidFill>
            <a:srgbClr val="161B22"/>
          </a:solidFill>
          <a:ln w="12700">
            <a:solidFill>
              <a:srgbClr val="9A7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79" y="22128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3. Renegociar TCs antes de mora formal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79" y="248716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Reducir cuota y tasa de interés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225856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E8B4C"/>
                </a:solidFill>
              </a:rPr>
              <a:t>+$150,000/mes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2167128"/>
            <a:ext cx="5669280" cy="594360"/>
          </a:xfrm>
          <a:prstGeom prst="rect">
            <a:avLst/>
          </a:prstGeom>
          <a:solidFill>
            <a:srgbClr val="161B22"/>
          </a:solidFill>
          <a:ln w="12700">
            <a:solidFill>
              <a:srgbClr val="9A7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22128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4. Subir precios 10-15% en productos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48716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Margen bruto pasa de 45% a 50%+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25856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E8B4C"/>
                </a:solidFill>
              </a:rPr>
              <a:t>+$186,000/mes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907792"/>
            <a:ext cx="11612880" cy="292608"/>
          </a:xfrm>
          <a:prstGeom prst="rect">
            <a:avLst/>
          </a:prstGeom>
          <a:solidFill>
            <a:srgbClr val="9A7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9260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HORIZONTE 2 — IMPORTANTE  (3 a 12 meses)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246120"/>
            <a:ext cx="3657600" cy="777240"/>
          </a:xfrm>
          <a:prstGeom prst="rect">
            <a:avLst/>
          </a:prstGeom>
          <a:solidFill>
            <a:srgbClr val="161B22"/>
          </a:solidFill>
          <a:ln w="12700">
            <a:solidFill>
              <a:srgbClr val="9A7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79" y="32918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5. Escalar ventas a $3,500,000/mes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" y="36118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Canal MercadoLibre + vendedor comisionista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0" y="3246120"/>
            <a:ext cx="3657600" cy="777240"/>
          </a:xfrm>
          <a:prstGeom prst="rect">
            <a:avLst/>
          </a:prstGeom>
          <a:solidFill>
            <a:srgbClr val="161B22"/>
          </a:solidFill>
          <a:ln w="12700">
            <a:solidFill>
              <a:srgbClr val="9A7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51960" y="32918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6. Formalizar empresa (EIRL/SpA)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60" y="36118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Acceso SERCOTEC y FOGAPE — créditos al 0.5-1%/mes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0" y="3246120"/>
            <a:ext cx="3657600" cy="777240"/>
          </a:xfrm>
          <a:prstGeom prst="rect">
            <a:avLst/>
          </a:prstGeom>
          <a:solidFill>
            <a:srgbClr val="161B22"/>
          </a:solidFill>
          <a:ln w="12700">
            <a:solidFill>
              <a:srgbClr val="9A7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92440" y="32918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7. Evaluar venta del camión Foton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2440" y="36118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Libera $329,778/mes si ventas no suben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4114800"/>
            <a:ext cx="11612880" cy="2926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133087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HORIZONTE 3 — LARGO PLAZO  (12 a 36 meses)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453128"/>
            <a:ext cx="3657600" cy="777240"/>
          </a:xfrm>
          <a:prstGeom prst="rect">
            <a:avLst/>
          </a:prstGeom>
          <a:solidFill>
            <a:srgbClr val="161B22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79" y="44988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8. Liquidar TCs (CMR primero)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79" y="481888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Libera flujo permanente y mejora historial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4453128"/>
            <a:ext cx="3657600" cy="777240"/>
          </a:xfrm>
          <a:prstGeom prst="rect">
            <a:avLst/>
          </a:prstGeom>
          <a:solidFill>
            <a:srgbClr val="161B22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51960" y="44988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9. Colchón liquidez 2 meses (~$3.8M)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51960" y="481888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Estabilidad ante imprevistos y temporadas bajas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55280" y="4453128"/>
            <a:ext cx="3657600" cy="777240"/>
          </a:xfrm>
          <a:prstGeom prst="rect">
            <a:avLst/>
          </a:prstGeom>
          <a:solidFill>
            <a:srgbClr val="161B22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92440" y="44988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10. Contratar vendedor/a a comisión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92440" y="481888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Multiplica ventas sin aumentar costos fijos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349240"/>
            <a:ext cx="11612880" cy="914400"/>
          </a:xfrm>
          <a:prstGeom prst="rect">
            <a:avLst/>
          </a:prstGeom>
          <a:solidFill>
            <a:srgbClr val="1B2D1B"/>
          </a:solidFill>
          <a:ln w="12700">
            <a:solidFill>
              <a:srgbClr val="1E8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54406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8B4C"/>
                </a:solidFill>
              </a:rPr>
              <a:t>Si se ejecutan las 4 acciones urgentes: +$716,000/mes  |  Déficit actual: -$105,770/mes  →  Superávit potencial: +$610,230/mes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Decisión Estratégica: ¿Seguir o Cerrar?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D6D7E"/>
                </a:solidFill>
              </a:rPr>
              <a:t>Análisis objetivo de ambos caminos — Basado en datos reales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914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D6D7E"/>
                </a:solidFill>
              </a:rPr>
              <a:t>Chiquito Finanzas | Mar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D6D7E"/>
                </a:solidFill>
              </a:rPr>
              <a:t>Chiquito Finanzas  |  Diagnóstico Financiero  |  Marzo 2026  |  Confidencial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097280"/>
            <a:ext cx="5394960" cy="5303520"/>
          </a:xfrm>
          <a:prstGeom prst="rect">
            <a:avLst/>
          </a:prstGeom>
          <a:solidFill>
            <a:srgbClr val="161B22"/>
          </a:solidFill>
          <a:ln w="25400">
            <a:solidFill>
              <a:srgbClr val="1E8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97280"/>
            <a:ext cx="5394960" cy="384048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1338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✅  SEGUIR — Condiciones y fundamentos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572768"/>
            <a:ext cx="274320" cy="2743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7276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Margen bruto sólido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874519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45-55% por producto — el negocio tiene capacidad real de ganancia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322576"/>
            <a:ext cx="274320" cy="2743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32257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Activo productivo real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62432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Camión Foton + herramientas + know-how de fabricación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072384"/>
            <a:ext cx="274320" cy="2743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Potencial de ventas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374136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Dic-2025 = $3,024,913 (demanda existe, el problema es consistencia)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22191"/>
            <a:ext cx="274320" cy="2743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822191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Costo de cierre alto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12394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Liquidar maquinaria, perder clientes activos, riesgo reputacional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572000"/>
            <a:ext cx="274320" cy="2743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5720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Acciones de impacto inmediato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87375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Renegociar alquiler + separar gastos = +$380K/mes sin vender más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321807"/>
            <a:ext cx="274320" cy="2743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32180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Apoyo familiar disponible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23559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Inyección $2.2M sin costo, red de apoyo activa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1097280"/>
            <a:ext cx="5394960" cy="5303520"/>
          </a:xfrm>
          <a:prstGeom prst="rect">
            <a:avLst/>
          </a:prstGeom>
          <a:solidFill>
            <a:srgbClr val="161B22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35040" y="1097280"/>
            <a:ext cx="5394960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0" y="11338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⚠  CERRAR — Cuándo considerarlo seriamente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80" y="1572768"/>
            <a:ext cx="27432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157276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Ventas no suben en 6 meses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1874519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Si no se supera $2.5M/mes para Sep-2026, la deuda se vuelve impagable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2468880"/>
            <a:ext cx="27432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24688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Alquiler no se renegocia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2770632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Sin reducir el alquiler, el PE sigue fuera de alcance realista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3364991"/>
            <a:ext cx="27432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3364991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Mora bancaria formal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3666744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Si las TCs entran en cobranza judicial, costos se multiplican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26480" y="4261104"/>
            <a:ext cx="27432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92240" y="426110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Deuda familiar impagable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4562856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Si la hermana no puede devolver, el conflicto familiar es el costo más alto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26480" y="5157216"/>
            <a:ext cx="27432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515721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Salud del operador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545896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D6D7E"/>
                </a:solidFill>
              </a:rPr>
              <a:t>El estrés financiero sostenido afecta la calidad del trabajo y las ventas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5742432"/>
            <a:ext cx="11612880" cy="822960"/>
          </a:xfrm>
          <a:prstGeom prst="rect">
            <a:avLst/>
          </a:prstGeom>
          <a:solidFill>
            <a:srgbClr val="0D47A1"/>
          </a:solidFill>
          <a:ln w="1905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578815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VEREDICTO: El negocio tiene viabilidad CONDICIONADA. Seguir tiene sentido SOLO si en los próximos 90 días se renegocia el alquiler y se separan las finanzas personales. Sin esas dos acciones, el cierre ordenado en 6 meses es la opción más responsable para proteger el patrimonio familiar.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Próximos Pasos — Los 90 días críticos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D6D7E"/>
                </a:solidFill>
              </a:rPr>
              <a:t>Las 3 acciones que definen si el negocio sobrevive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914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D6D7E"/>
                </a:solidFill>
              </a:rPr>
              <a:t>Chiquito Finanzas | Mar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D6D7E"/>
                </a:solidFill>
              </a:rPr>
              <a:t>Chiquito Finanzas  |  Diagnóstico Financiero  |  Marzo 2026  |  Confidencial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143000"/>
            <a:ext cx="11612880" cy="1554480"/>
          </a:xfrm>
          <a:prstGeom prst="rect">
            <a:avLst/>
          </a:prstGeom>
          <a:solidFill>
            <a:srgbClr val="161B22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143000"/>
            <a:ext cx="1097280" cy="1554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64592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21615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</a:rPr>
              <a:t>ESTA SEMANA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1490472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Conversación con el arrendador del taller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1947672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</a:rPr>
              <a:t>Presentar propuesta: $400,000/mes con contrato firmado. Si dice que no → buscar alternativa de local.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834640"/>
            <a:ext cx="11612880" cy="1554480"/>
          </a:xfrm>
          <a:prstGeom prst="rect">
            <a:avLst/>
          </a:prstGeom>
          <a:solidFill>
            <a:srgbClr val="161B22"/>
          </a:solidFill>
          <a:ln w="19050">
            <a:solidFill>
              <a:srgbClr val="9A7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834640"/>
            <a:ext cx="1097280" cy="1554480"/>
          </a:xfrm>
          <a:prstGeom prst="rect">
            <a:avLst/>
          </a:prstGeom>
          <a:solidFill>
            <a:srgbClr val="9A7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375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90779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A7D0A"/>
                </a:solidFill>
              </a:rPr>
              <a:t>ESTE 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182112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Separar caja personal de caja del negocio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639312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</a:rPr>
              <a:t>Abrir cuenta bancaria exclusiva para el negocio. Todo ingreso del negocio entra ahí. Todo gasto personal sale de otra cuenta.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526280"/>
            <a:ext cx="11612880" cy="1554480"/>
          </a:xfrm>
          <a:prstGeom prst="rect">
            <a:avLst/>
          </a:prstGeom>
          <a:solidFill>
            <a:srgbClr val="161B22"/>
          </a:solidFill>
          <a:ln w="1905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4526280"/>
            <a:ext cx="1097280" cy="15544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0292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5994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6FEB"/>
                </a:solidFill>
              </a:rPr>
              <a:t>PRÓXIMOS 30 DÍAS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873752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Negociar TCs con los bancos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5330952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</a:rPr>
              <a:t>Llamar a Santander y CMR para renegociar antes de entrar en mora. Objetivo: reducir cuota total en $150,000/mes.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6236208"/>
            <a:ext cx="11612880" cy="4114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281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8B4C"/>
                </a:solidFill>
              </a:rPr>
              <a:t>Meta a 90 días: Déficit actual -$105,770/mes  →  Superávit estimado +$374,230/mes  |  PE bajará de $4,250,896 a $3,582,484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